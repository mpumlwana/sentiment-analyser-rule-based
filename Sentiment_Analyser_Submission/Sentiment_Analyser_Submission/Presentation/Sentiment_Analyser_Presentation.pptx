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11e5a79-d37b-f73c-5ad4-c63c895cca89}">
          <p14:sldIdLst>
            <p14:sldId id="256"/>
            <p14:sldId id="257"/>
            <p14:sldId id="258"/>
          </p14:sldIdLst>
        </p14:section>
        <p14:section name="Method and results" id="{37c19eaf-043d-fed2-a40b-88465b2ba01a}">
          <p14:sldIdLst>
            <p14:sldId id="259"/>
            <p14:sldId id="260"/>
            <p14:sldId id="261"/>
          </p14:sldIdLst>
        </p14:section>
        <p14:section name="Errors and wrap-up" id="{298263d1-ea8f-1a3a-30c6-8af9c5876c4f}">
          <p14:sldIdLst>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62E"/>
                </a:solidFill>
                <a:latin typeface="+mn-lt"/>
              </a:defRPr>
            </a:pPr>
            <a:r>
              <a:rPr sz="1400" b="0" i="0" u="none" strike="noStrike">
                <a:solidFill>
                  <a:srgbClr val="16262E"/>
                </a:solidFill>
                <a:latin typeface="+mn-lt"/>
              </a:rPr>
              <a:t>Macro-F1 on 1,474 test reviews</a:t>
            </a:r>
          </a:p>
        </c:rich>
      </c:tx>
      <c:layout/>
      <c:overlay val="0"/>
    </c:title>
    <c:autoTitleDeleted val="0"/>
    <c:plotArea>
      <c:layout/>
      <c:barChart>
        <c:barDir val="col"/>
        <c:grouping val="clustered"/>
        <c:varyColors val="0"/>
        <c:ser>
          <c:idx val="0"/>
          <c:order val="0"/>
          <c:tx>
            <c:strRef>
              <c:f>Sheet1!$B$1</c:f>
              <c:strCache>
                <c:ptCount val="1"/>
                <c:pt idx="0">
                  <c:v>Macro-F1</c:v>
                </c:pt>
              </c:strCache>
            </c:strRef>
          </c:tx>
          <c:spPr>
            <a:solidFill>
              <a:srgbClr val="B8C4C8"/>
            </a:solidFill>
            <a:effectLst/>
          </c:spPr>
          <c:invertIfNegative val="0"/>
          <c:dLbls>
            <c:numFmt formatCode="0.000" sourceLinked="0"/>
            <c:txPr>
              <a:bodyPr/>
              <a:lstStyle/>
              <a:p>
                <a:pPr>
                  <a:defRPr b="0" i="0" strike="noStrike" sz="1200" u="none">
                    <a:solidFill>
                      <a:srgbClr val="16262E"/>
                    </a:solidFill>
                    <a:latin typeface="+mn-lt"/>
                  </a:defRPr>
                </a:pPr>
              </a:p>
            </c:txPr>
            <c:showLegendKey val="0"/>
            <c:showVal val="1"/>
            <c:showCatName val="0"/>
            <c:showSerName val="0"/>
            <c:showPercent val="0"/>
            <c:showBubbleSize val="0"/>
            <c:showLeaderLines val="0"/>
          </c:dLbls>
          <c:dPt>
            <c:idx val="0"/>
            <c:invertIfNegative val="0"/>
            <c:bubble3D val="0"/>
            <c:spPr>
              <a:solidFill>
                <a:srgbClr val="B8C4C8"/>
              </a:solidFill>
              <a:effectLst/>
            </c:spPr>
          </c:dPt>
          <c:dPt>
            <c:idx val="1"/>
            <c:invertIfNegative val="0"/>
            <c:bubble3D val="0"/>
            <c:spPr>
              <a:solidFill>
                <a:srgbClr val="B8C4C8"/>
              </a:solidFill>
              <a:effectLst/>
            </c:spPr>
          </c:dPt>
          <c:dPt>
            <c:idx val="2"/>
            <c:invertIfNegative val="0"/>
            <c:bubble3D val="0"/>
            <c:spPr>
              <a:solidFill>
                <a:srgbClr val="B8C4C8"/>
              </a:solidFill>
              <a:effectLst/>
            </c:spPr>
          </c:dPt>
          <c:dPt>
            <c:idx val="3"/>
            <c:invertIfNegative val="0"/>
            <c:bubble3D val="0"/>
            <c:spPr>
              <a:solidFill>
                <a:srgbClr val="B8C4C8"/>
              </a:solidFill>
              <a:effectLst/>
            </c:spPr>
          </c:dPt>
          <c:dPt>
            <c:idx val="4"/>
            <c:invertIfNegative val="0"/>
            <c:bubble3D val="0"/>
            <c:spPr>
              <a:solidFill>
                <a:srgbClr val="7FB0B0"/>
              </a:solidFill>
              <a:effectLst/>
            </c:spPr>
          </c:dPt>
          <c:dPt>
            <c:idx val="5"/>
            <c:invertIfNegative val="0"/>
            <c:bubble3D val="0"/>
            <c:spPr>
              <a:solidFill>
                <a:srgbClr val="0F6B6B"/>
              </a:solidFill>
              <a:effectLst/>
            </c:spPr>
          </c:dPt>
          <c:cat>
            <c:multiLvlStrRef>
              <c:f>Sheet1!$A$2:$A$7</c:f>
              <c:multiLvlStrCache>
                <c:ptCount val="6"/>
                <c:lvl>
                  <c:pt idx="0">
                    <c:v>Always positive</c:v>
                  </c:pt>
                  <c:pt idx="1">
                    <c:v>TextBlob</c:v>
                  </c:pt>
                  <c:pt idx="2">
                    <c:v>Word count</c:v>
                  </c:pt>
                  <c:pt idx="3">
                    <c:v>VADER default</c:v>
                  </c:pt>
                  <c:pt idx="4">
                    <c:v>Tuned thresholds</c:v>
                  </c:pt>
                  <c:pt idx="5">
                    <c:v>VADER + domain words</c:v>
                  </c:pt>
                </c:lvl>
              </c:multiLvlStrCache>
            </c:multiLvlStrRef>
          </c:cat>
          <c:val>
            <c:numRef>
              <c:f>Sheet1!$B$2:$B$7</c:f>
              <c:numCache>
                <c:formatCode>General</c:formatCode>
                <c:ptCount val="6"/>
                <c:pt idx="0">
                  <c:v>0.317</c:v>
                </c:pt>
                <c:pt idx="1">
                  <c:v>0.385</c:v>
                </c:pt>
                <c:pt idx="2">
                  <c:v>0.416</c:v>
                </c:pt>
                <c:pt idx="3">
                  <c:v>0.428</c:v>
                </c:pt>
                <c:pt idx="4">
                  <c:v>0.448</c:v>
                </c:pt>
                <c:pt idx="5">
                  <c:v>0.485</c:v>
                </c:pt>
              </c:numCache>
            </c:numRef>
          </c:val>
        </c:ser>
        <c:dLbls>
          <c:numFmt formatCode="0.000" sourceLinked="0"/>
          <c:txPr>
            <a:bodyPr/>
            <a:lstStyle/>
            <a:p>
              <a:pPr>
                <a:defRPr b="0" i="0" strike="noStrike" sz="1200" u="none">
                  <a:solidFill>
                    <a:srgbClr val="1626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6262E"/>
                </a:solidFill>
                <a:latin typeface="+mn-lt"/>
              </a:defRPr>
            </a:pPr>
            <a:endParaRPr lang="en-US"/>
          </a:p>
        </c:txPr>
        <c:crossAx val="2094734552"/>
        <c:crosses val="autoZero"/>
        <c:auto val="1"/>
        <c:lblAlgn val="ctr"/>
        <c:noMultiLvlLbl val="1"/>
      </c:catAx>
      <c:valAx>
        <c:axId val="2094734552"/>
        <c:scaling>
          <c:orientation val="minMax"/>
          <c:max val="0.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30 seconds). Introduce the group and topic: a rule-based sentiment analyser for product reviews. It reads a review and decides positive, negative or neutral using a dictionary of rated words and a few rules, not a trained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45 seconds). Explain why businesses need automatic sentiment analysis. State the aim and that we judge success by macro-F1, not accuracy, because the data is heavily imbalanced.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(about 45 seconds). Dataset: 4,915 Amazon reviews from GitHub, mostly memory cards. Star ratings give the ground truth. Quality checks found one missing review and two duplicates. Point out the class imbalance: 4,446 positive, 324 negative, 142 neutral. We kept negation words when removing stopwords because deleting 'not' would flip the meaning. Do not spend long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1 minute 15 seconds). Walk through the five steps. Then the three versions: A is default VADER, B tunes the thresholds on training data, C adds 17 domain words because exploratory analysis showed VADER does not know refund, rma, replacement or unable. Everything was tuned on the training set only, so the test set stays unseen. VADER was chosen over TextBlob and a plain word count because it scored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1 minute). Macro-F1 averages the three classes equally, so rare classes count as much as the common one. Always-positive scores 0.317. TextBlob 0.385, word count 0.416, default VADER 0.428, tuned thresholds 0.448, and our final version 0.485. Each improvement helped. Caution: only 97 negative and 43 neutral test reviews, so small differences may partly be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(about 45 seconds). Per class: positive F1 0.90, negative 0.46, neutral 0.10. The trivial baseline beats every tool on accuracy, which is why we report macro-F1. In the confusion matrix, the biggest error group is 155 positive reviews called neutral, 57 percent of all 274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1 minute). Four error patterns found by reading misclassified_test_reviews.csv. Quote the error rates: nearly every review with no dictionary word is wrong, because the analyser defaults to neutral; reviews with 'but' or a negation are wrong far more often. Be ready to show two real examples from section 7.3 of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45 seconds). Be honest about limits: neutral class, sarcasm, mixed reviews, fixed dictionary. Future work: the machine-learning topic 8 approach as a comparison, aspect-based sentiment, and deployment as a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(about 30 seconds). Summarise: explainable tool, 0.485 macro-F1, honest limitations, everything delivered. Thank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822960"/>
          </a:xfrm>
          <a:prstGeom prst="rect">
            <a:avLst/>
          </a:prstGeom>
          <a:noFill/>
          <a:ln/>
        </p:spPr>
        <p:txBody>
          <a:bodyPr wrap="square" rtlCol="0"/>
          <a:lstStyle>
            <a:lvl1pPr indent="0" marL="0">
              <a:buNone/>
              <a:defRPr lang="en-US" sz="3600" b="1" dirty="0">
                <a:solidFill>
                  <a:schemeClr val="bg1"/>
                </a:solidFill>
                <a:latin typeface="Cambria" pitchFamily="34" charset="0"/>
                <a:ea typeface="Cambria" pitchFamily="34" charset="-122"/>
                <a:cs typeface="Cambria" pitchFamily="34" charset="-120"/>
              </a:defRPr>
            </a:lvl1pPr>
          </a:lstStyle>
          <a:p>
            <a:pPr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82296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Rule-Based Sentiment Analyser</a:t>
            </a:r>
            <a:endParaRPr lang="en-US" sz="3600" dirty="0"/>
          </a:p>
        </p:txBody>
      </p:sp>
      <p:sp>
        <p:nvSpPr>
          <p:cNvPr id="3" name="Text 1"/>
          <p:cNvSpPr txBox="1"/>
          <p:nvPr/>
        </p:nvSpPr>
        <p:spPr>
          <a:xfrm>
            <a:off x="548640" y="2286000"/>
            <a:ext cx="6949440" cy="822960"/>
          </a:xfrm>
          <a:prstGeom prst="rect">
            <a:avLst/>
          </a:prstGeom>
          <a:noFill/>
          <a:ln/>
        </p:spPr>
        <p:txBody>
          <a:bodyPr wrap="square" lIns="0" tIns="0" rIns="0" bIns="0" rtlCol="0" anchor="t"/>
          <a:lstStyle/>
          <a:p>
            <a:pPr indent="0" marL="0">
              <a:buNone/>
            </a:pPr>
            <a:r>
              <a:rPr lang="en-US" sz="1800" dirty="0">
                <a:solidFill>
                  <a:schemeClr val="bg2"/>
                </a:solidFill>
                <a:latin typeface="Calibri" pitchFamily="34" charset="0"/>
                <a:ea typeface="Calibri" pitchFamily="34" charset="-122"/>
                <a:cs typeface="Calibri" pitchFamily="34" charset="-120"/>
              </a:rPr>
              <a:t>Classifying product reviews as positive, negative or neutral using a dictionary and rules, with no trained model</a:t>
            </a:r>
            <a:endParaRPr lang="en-US" sz="1800" dirty="0"/>
          </a:p>
        </p:txBody>
      </p:sp>
      <p:sp>
        <p:nvSpPr>
          <p:cNvPr id="4" name="Text 2"/>
          <p:cNvSpPr txBox="1"/>
          <p:nvPr/>
        </p:nvSpPr>
        <p:spPr>
          <a:xfrm>
            <a:off x="548640" y="3840480"/>
            <a:ext cx="8046720" cy="822960"/>
          </a:xfrm>
          <a:prstGeom prst="rect">
            <a:avLst/>
          </a:prstGeom>
          <a:noFill/>
          <a:ln/>
        </p:spPr>
        <p:txBody>
          <a:bodyPr wrap="square" lIns="0" tIns="0" rIns="0" bIns="0" rtlCol="0" anchor="t"/>
          <a:lstStyle/>
          <a:p>
            <a:pPr indent="0" marL="0">
              <a:buNone/>
            </a:pPr>
            <a:r>
              <a:rPr lang="en-US" sz="1400" dirty="0">
                <a:solidFill>
                  <a:schemeClr val="accent2"/>
                </a:solidFill>
                <a:latin typeface="Calibri" pitchFamily="34" charset="0"/>
                <a:ea typeface="Calibri" pitchFamily="34" charset="-122"/>
                <a:cs typeface="Calibri" pitchFamily="34" charset="-120"/>
              </a:rPr>
              <a:t>AIE580S / DSE580S Group Assignment 2026, Topic 7</a:t>
            </a:r>
            <a:endParaRPr lang="en-US" sz="1400" dirty="0"/>
          </a:p>
          <a:p>
            <a:pPr indent="0" marL="0">
              <a:buNone/>
            </a:pPr>
            <a:r>
              <a:rPr lang="en-US" sz="1400" dirty="0">
                <a:solidFill>
                  <a:schemeClr val="accent2"/>
                </a:solidFill>
                <a:latin typeface="Calibri" pitchFamily="34" charset="0"/>
                <a:ea typeface="Calibri" pitchFamily="34" charset="-122"/>
                <a:cs typeface="Calibri" pitchFamily="34" charset="-120"/>
              </a:rPr>
              <a:t>Lakhikhaya Mpumlwana  |  Boka Winston Mokoena  |  Sibabalwe Ngadana</a:t>
            </a:r>
            <a:endParaRPr lang="en-US" sz="1400" dirty="0"/>
          </a:p>
          <a:p>
            <a:pPr indent="0" marL="0">
              <a:buNone/>
            </a:pPr>
            <a:r>
              <a:rPr lang="en-US" sz="1400" dirty="0">
                <a:solidFill>
                  <a:schemeClr val="accent2"/>
                </a:solidFill>
                <a:latin typeface="Calibri" pitchFamily="34" charset="0"/>
                <a:ea typeface="Calibri" pitchFamily="34" charset="-122"/>
                <a:cs typeface="Calibri" pitchFamily="34" charset="-120"/>
              </a:rPr>
              <a:t>Cape Peninsula University of Technology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Nobody can read every review</a:t>
            </a:r>
            <a:endParaRPr lang="en-US" sz="3200" dirty="0"/>
          </a:p>
        </p:txBody>
      </p:sp>
      <p:sp>
        <p:nvSpPr>
          <p:cNvPr id="3" name="Card 1"/>
          <p:cNvSpPr/>
          <p:nvPr/>
        </p:nvSpPr>
        <p:spPr>
          <a:xfrm>
            <a:off x="548640" y="1371600"/>
            <a:ext cx="2560320" cy="2651760"/>
          </a:xfrm>
          <a:prstGeom prst="roundRect">
            <a:avLst>
              <a:gd name="adj" fmla="val 4286"/>
            </a:avLst>
          </a:prstGeom>
          <a:solidFill>
            <a:schemeClr val="bg2"/>
          </a:solidFill>
          <a:ln w="12700">
            <a:solidFill>
              <a:schemeClr val="bg2"/>
            </a:solidFill>
            <a:prstDash val="solid"/>
          </a:ln>
        </p:spPr>
      </p:sp>
      <p:sp>
        <p:nvSpPr>
          <p:cNvPr id="4" name="Badge 1"/>
          <p:cNvSpPr/>
          <p:nvPr/>
        </p:nvSpPr>
        <p:spPr>
          <a:xfrm>
            <a:off x="777240" y="160020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77240" y="16002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777240" y="2286000"/>
            <a:ext cx="210312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Too many to read</a:t>
            </a:r>
            <a:endParaRPr lang="en-US" sz="1800" dirty="0"/>
          </a:p>
        </p:txBody>
      </p:sp>
      <p:sp>
        <p:nvSpPr>
          <p:cNvPr id="7" name="Text 5"/>
          <p:cNvSpPr txBox="1"/>
          <p:nvPr/>
        </p:nvSpPr>
        <p:spPr>
          <a:xfrm>
            <a:off x="777240" y="2697480"/>
            <a:ext cx="210312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 popular product attracts thousands of reviews, and a retailer sells thousands of products.</a:t>
            </a:r>
            <a:endParaRPr lang="en-US" sz="1400" dirty="0"/>
          </a:p>
        </p:txBody>
      </p:sp>
      <p:sp>
        <p:nvSpPr>
          <p:cNvPr id="8" name="Card 2"/>
          <p:cNvSpPr/>
          <p:nvPr/>
        </p:nvSpPr>
        <p:spPr>
          <a:xfrm>
            <a:off x="3291840" y="1371600"/>
            <a:ext cx="2560320" cy="2651760"/>
          </a:xfrm>
          <a:prstGeom prst="roundRect">
            <a:avLst>
              <a:gd name="adj" fmla="val 4286"/>
            </a:avLst>
          </a:prstGeom>
          <a:solidFill>
            <a:schemeClr val="bg2"/>
          </a:solidFill>
          <a:ln w="12700">
            <a:solidFill>
              <a:schemeClr val="bg2"/>
            </a:solidFill>
            <a:prstDash val="solid"/>
          </a:ln>
        </p:spPr>
      </p:sp>
      <p:sp>
        <p:nvSpPr>
          <p:cNvPr id="9" name="Badge 2"/>
          <p:cNvSpPr/>
          <p:nvPr/>
        </p:nvSpPr>
        <p:spPr>
          <a:xfrm>
            <a:off x="3520440" y="160020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3520440" y="16002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3520440" y="2286000"/>
            <a:ext cx="210312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Valuable feedback</a:t>
            </a:r>
            <a:endParaRPr lang="en-US" sz="1800" dirty="0"/>
          </a:p>
        </p:txBody>
      </p:sp>
      <p:sp>
        <p:nvSpPr>
          <p:cNvPr id="12" name="Text 10"/>
          <p:cNvSpPr txBox="1"/>
          <p:nvPr/>
        </p:nvSpPr>
        <p:spPr>
          <a:xfrm>
            <a:off x="3520440" y="2697480"/>
            <a:ext cx="210312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Reviews show reputation, recurring faults and unhappy customers who need support.</a:t>
            </a:r>
            <a:endParaRPr lang="en-US" sz="1400" dirty="0"/>
          </a:p>
        </p:txBody>
      </p:sp>
      <p:sp>
        <p:nvSpPr>
          <p:cNvPr id="13" name="Card 3"/>
          <p:cNvSpPr/>
          <p:nvPr/>
        </p:nvSpPr>
        <p:spPr>
          <a:xfrm>
            <a:off x="6035040" y="1371600"/>
            <a:ext cx="2560320" cy="2651760"/>
          </a:xfrm>
          <a:prstGeom prst="roundRect">
            <a:avLst>
              <a:gd name="adj" fmla="val 4286"/>
            </a:avLst>
          </a:prstGeom>
          <a:solidFill>
            <a:schemeClr val="bg2"/>
          </a:solidFill>
          <a:ln w="12700">
            <a:solidFill>
              <a:schemeClr val="bg2"/>
            </a:solidFill>
            <a:prstDash val="solid"/>
          </a:ln>
        </p:spPr>
      </p:sp>
      <p:sp>
        <p:nvSpPr>
          <p:cNvPr id="14" name="Badge 3"/>
          <p:cNvSpPr/>
          <p:nvPr/>
        </p:nvSpPr>
        <p:spPr>
          <a:xfrm>
            <a:off x="6263640" y="1600200"/>
            <a:ext cx="502920" cy="502920"/>
          </a:xfrm>
          <a:prstGeom prst="ellipse">
            <a:avLst/>
          </a:prstGeom>
          <a:solidFill>
            <a:schemeClr val="accent2"/>
          </a:solidFill>
          <a:ln w="12700">
            <a:solidFill>
              <a:schemeClr val="accent2"/>
            </a:solidFill>
            <a:prstDash val="solid"/>
          </a:ln>
        </p:spPr>
      </p:sp>
      <p:sp>
        <p:nvSpPr>
          <p:cNvPr id="15" name="Text 13"/>
          <p:cNvSpPr txBox="1"/>
          <p:nvPr/>
        </p:nvSpPr>
        <p:spPr>
          <a:xfrm>
            <a:off x="6263640" y="1600200"/>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3</a:t>
            </a:r>
            <a:endParaRPr lang="en-US" sz="2000" dirty="0"/>
          </a:p>
        </p:txBody>
      </p:sp>
      <p:sp>
        <p:nvSpPr>
          <p:cNvPr id="16" name="Text 14"/>
          <p:cNvSpPr txBox="1"/>
          <p:nvPr/>
        </p:nvSpPr>
        <p:spPr>
          <a:xfrm>
            <a:off x="6263640" y="2286000"/>
            <a:ext cx="210312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Our aim</a:t>
            </a:r>
            <a:endParaRPr lang="en-US" sz="1800" dirty="0"/>
          </a:p>
        </p:txBody>
      </p:sp>
      <p:sp>
        <p:nvSpPr>
          <p:cNvPr id="17" name="Text 15"/>
          <p:cNvSpPr txBox="1"/>
          <p:nvPr/>
        </p:nvSpPr>
        <p:spPr>
          <a:xfrm>
            <a:off x="6263640" y="2697480"/>
            <a:ext cx="210312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Build an explainable analyser that labels a review and shows the words behind the decision.</a:t>
            </a:r>
            <a:endParaRPr lang="en-US" sz="1400" dirty="0"/>
          </a:p>
        </p:txBody>
      </p:sp>
      <p:sp>
        <p:nvSpPr>
          <p:cNvPr id="18" name="Text 16"/>
          <p:cNvSpPr txBox="1"/>
          <p:nvPr/>
        </p:nvSpPr>
        <p:spPr>
          <a:xfrm>
            <a:off x="548640" y="4251960"/>
            <a:ext cx="7680960" cy="365760"/>
          </a:xfrm>
          <a:prstGeom prst="rect">
            <a:avLst/>
          </a:prstGeom>
          <a:noFill/>
          <a:ln/>
        </p:spPr>
        <p:txBody>
          <a:bodyPr wrap="square" lIns="0" tIns="0" rIns="0" bIns="0" rtlCol="0" anchor="t"/>
          <a:lstStyle/>
          <a:p>
            <a:pPr indent="0" marL="0">
              <a:buNone/>
            </a:pPr>
            <a:r>
              <a:rPr lang="en-US" sz="1400" i="1" dirty="0">
                <a:solidFill>
                  <a:schemeClr val="accent5"/>
                </a:solidFill>
                <a:latin typeface="Calibri" pitchFamily="34" charset="0"/>
                <a:ea typeface="Calibri" pitchFamily="34" charset="-122"/>
                <a:cs typeface="Calibri" pitchFamily="34" charset="-120"/>
              </a:rPr>
              <a:t>Success measure: macro-F1 above the trivial baseline of always answering "positive" (0.317)</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The data: 4,915 Amazon reviews</a:t>
            </a:r>
            <a:endParaRPr lang="en-US" sz="3200" dirty="0"/>
          </a:p>
        </p:txBody>
      </p:sp>
      <p:sp>
        <p:nvSpPr>
          <p:cNvPr id="3" name="Stat 1"/>
          <p:cNvSpPr/>
          <p:nvPr/>
        </p:nvSpPr>
        <p:spPr>
          <a:xfrm>
            <a:off x="548640" y="1280160"/>
            <a:ext cx="3749040" cy="1325880"/>
          </a:xfrm>
          <a:prstGeom prst="roundRect">
            <a:avLst>
              <a:gd name="adj" fmla="val 8276"/>
            </a:avLst>
          </a:prstGeom>
          <a:solidFill>
            <a:schemeClr val="bg2"/>
          </a:solidFill>
          <a:ln w="12700">
            <a:solidFill>
              <a:schemeClr val="bg2"/>
            </a:solidFill>
            <a:prstDash val="solid"/>
          </a:ln>
        </p:spPr>
      </p:sp>
      <p:sp>
        <p:nvSpPr>
          <p:cNvPr id="4" name="Text 2"/>
          <p:cNvSpPr txBox="1"/>
          <p:nvPr/>
        </p:nvSpPr>
        <p:spPr>
          <a:xfrm>
            <a:off x="777240" y="1417320"/>
            <a:ext cx="329184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4,912</a:t>
            </a:r>
            <a:endParaRPr lang="en-US" sz="4000" dirty="0"/>
          </a:p>
        </p:txBody>
      </p:sp>
      <p:sp>
        <p:nvSpPr>
          <p:cNvPr id="5" name="Text 3"/>
          <p:cNvSpPr txBox="1"/>
          <p:nvPr/>
        </p:nvSpPr>
        <p:spPr>
          <a:xfrm>
            <a:off x="777240" y="2103120"/>
            <a:ext cx="3291840" cy="411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reviews after removing 1 null and 2 duplicates</a:t>
            </a:r>
            <a:endParaRPr lang="en-US" sz="1400" dirty="0"/>
          </a:p>
        </p:txBody>
      </p:sp>
      <p:sp>
        <p:nvSpPr>
          <p:cNvPr id="6" name="Stat 2"/>
          <p:cNvSpPr/>
          <p:nvPr/>
        </p:nvSpPr>
        <p:spPr>
          <a:xfrm>
            <a:off x="4480560" y="1280160"/>
            <a:ext cx="3749040" cy="1325880"/>
          </a:xfrm>
          <a:prstGeom prst="roundRect">
            <a:avLst>
              <a:gd name="adj" fmla="val 8276"/>
            </a:avLst>
          </a:prstGeom>
          <a:solidFill>
            <a:schemeClr val="bg2"/>
          </a:solidFill>
          <a:ln w="12700">
            <a:solidFill>
              <a:schemeClr val="bg2"/>
            </a:solidFill>
            <a:prstDash val="solid"/>
          </a:ln>
        </p:spPr>
      </p:sp>
      <p:sp>
        <p:nvSpPr>
          <p:cNvPr id="7" name="Text 5"/>
          <p:cNvSpPr txBox="1"/>
          <p:nvPr/>
        </p:nvSpPr>
        <p:spPr>
          <a:xfrm>
            <a:off x="4709160" y="1417320"/>
            <a:ext cx="3291840" cy="64008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90.5%</a:t>
            </a:r>
            <a:endParaRPr lang="en-US" sz="4000" dirty="0"/>
          </a:p>
        </p:txBody>
      </p:sp>
      <p:sp>
        <p:nvSpPr>
          <p:cNvPr id="8" name="Text 6"/>
          <p:cNvSpPr txBox="1"/>
          <p:nvPr/>
        </p:nvSpPr>
        <p:spPr>
          <a:xfrm>
            <a:off x="4709160" y="2103120"/>
            <a:ext cx="3291840" cy="411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are positive, so accuracy alone is misleading</a:t>
            </a:r>
            <a:endParaRPr lang="en-US" sz="1400" dirty="0"/>
          </a:p>
        </p:txBody>
      </p:sp>
      <p:sp>
        <p:nvSpPr>
          <p:cNvPr id="9" name="Stat 3"/>
          <p:cNvSpPr/>
          <p:nvPr/>
        </p:nvSpPr>
        <p:spPr>
          <a:xfrm>
            <a:off x="548640" y="2788920"/>
            <a:ext cx="3749040" cy="1325880"/>
          </a:xfrm>
          <a:prstGeom prst="roundRect">
            <a:avLst>
              <a:gd name="adj" fmla="val 8276"/>
            </a:avLst>
          </a:prstGeom>
          <a:solidFill>
            <a:schemeClr val="bg2"/>
          </a:solidFill>
          <a:ln w="12700">
            <a:solidFill>
              <a:schemeClr val="bg2"/>
            </a:solidFill>
            <a:prstDash val="solid"/>
          </a:ln>
        </p:spPr>
      </p:sp>
      <p:sp>
        <p:nvSpPr>
          <p:cNvPr id="10" name="Text 8"/>
          <p:cNvSpPr txBox="1"/>
          <p:nvPr/>
        </p:nvSpPr>
        <p:spPr>
          <a:xfrm>
            <a:off x="777240" y="2926080"/>
            <a:ext cx="3291840" cy="6400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1-2 / 3 / 4-5</a:t>
            </a:r>
            <a:endParaRPr lang="en-US" sz="3000" dirty="0"/>
          </a:p>
        </p:txBody>
      </p:sp>
      <p:sp>
        <p:nvSpPr>
          <p:cNvPr id="11" name="Text 9"/>
          <p:cNvSpPr txBox="1"/>
          <p:nvPr/>
        </p:nvSpPr>
        <p:spPr>
          <a:xfrm>
            <a:off x="777240" y="3611880"/>
            <a:ext cx="3291840" cy="411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stars become negative / neutral / positive</a:t>
            </a:r>
            <a:endParaRPr lang="en-US" sz="1400" dirty="0"/>
          </a:p>
        </p:txBody>
      </p:sp>
      <p:sp>
        <p:nvSpPr>
          <p:cNvPr id="12" name="Stat 4"/>
          <p:cNvSpPr/>
          <p:nvPr/>
        </p:nvSpPr>
        <p:spPr>
          <a:xfrm>
            <a:off x="4480560" y="2788920"/>
            <a:ext cx="3749040" cy="1325880"/>
          </a:xfrm>
          <a:prstGeom prst="roundRect">
            <a:avLst>
              <a:gd name="adj" fmla="val 8276"/>
            </a:avLst>
          </a:prstGeom>
          <a:solidFill>
            <a:schemeClr val="bg2"/>
          </a:solidFill>
          <a:ln w="12700">
            <a:solidFill>
              <a:schemeClr val="bg2"/>
            </a:solidFill>
            <a:prstDash val="solid"/>
          </a:ln>
        </p:spPr>
      </p:sp>
      <p:sp>
        <p:nvSpPr>
          <p:cNvPr id="13" name="Text 11"/>
          <p:cNvSpPr txBox="1"/>
          <p:nvPr/>
        </p:nvSpPr>
        <p:spPr>
          <a:xfrm>
            <a:off x="4709160" y="2926080"/>
            <a:ext cx="329184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70 / 30</a:t>
            </a:r>
            <a:endParaRPr lang="en-US" sz="4000" dirty="0"/>
          </a:p>
        </p:txBody>
      </p:sp>
      <p:sp>
        <p:nvSpPr>
          <p:cNvPr id="14" name="Text 12"/>
          <p:cNvSpPr txBox="1"/>
          <p:nvPr/>
        </p:nvSpPr>
        <p:spPr>
          <a:xfrm>
            <a:off x="4709160" y="3611880"/>
            <a:ext cx="3291840" cy="411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stratified train / test split, seed 42</a:t>
            </a:r>
            <a:endParaRPr lang="en-US" sz="1400" dirty="0"/>
          </a:p>
        </p:txBody>
      </p:sp>
      <p:sp>
        <p:nvSpPr>
          <p:cNvPr id="15" name="Text 13"/>
          <p:cNvSpPr txBox="1"/>
          <p:nvPr/>
        </p:nvSpPr>
        <p:spPr>
          <a:xfrm>
            <a:off x="548640" y="4343400"/>
            <a:ext cx="768096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Cleaning: lowercase, remove HTML, URLs and digits, expand contractions, NLTK tokenization, stopwords removed but negations kept. The original text is what gets scored.</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How the analyser decides</a:t>
            </a:r>
            <a:endParaRPr lang="en-US" sz="3200" dirty="0"/>
          </a:p>
        </p:txBody>
      </p:sp>
      <p:sp>
        <p:nvSpPr>
          <p:cNvPr id="3" name="Step 1"/>
          <p:cNvSpPr/>
          <p:nvPr/>
        </p:nvSpPr>
        <p:spPr>
          <a:xfrm>
            <a:off x="548640" y="1325880"/>
            <a:ext cx="1463040" cy="1874520"/>
          </a:xfrm>
          <a:prstGeom prst="roundRect">
            <a:avLst>
              <a:gd name="adj" fmla="val 7500"/>
            </a:avLst>
          </a:prstGeom>
          <a:solidFill>
            <a:schemeClr val="bg2"/>
          </a:solidFill>
          <a:ln w="12700">
            <a:solidFill>
              <a:schemeClr val="bg2"/>
            </a:solidFill>
            <a:prstDash val="solid"/>
          </a:ln>
        </p:spPr>
      </p:sp>
      <p:sp>
        <p:nvSpPr>
          <p:cNvPr id="4" name="Text 2"/>
          <p:cNvSpPr txBox="1"/>
          <p:nvPr/>
        </p:nvSpPr>
        <p:spPr>
          <a:xfrm>
            <a:off x="685800" y="1417320"/>
            <a:ext cx="457200" cy="36576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685800" y="1828800"/>
            <a:ext cx="123444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Lookup</a:t>
            </a:r>
            <a:endParaRPr lang="en-US" sz="1600" dirty="0"/>
          </a:p>
        </p:txBody>
      </p:sp>
      <p:sp>
        <p:nvSpPr>
          <p:cNvPr id="6" name="Text 4"/>
          <p:cNvSpPr txBox="1"/>
          <p:nvPr/>
        </p:nvSpPr>
        <p:spPr>
          <a:xfrm>
            <a:off x="685800" y="2194560"/>
            <a:ext cx="1234440" cy="9601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Each word is found in VADER's 7,500 rated words</a:t>
            </a:r>
            <a:endParaRPr lang="en-US" sz="1200" dirty="0"/>
          </a:p>
        </p:txBody>
      </p:sp>
      <p:sp>
        <p:nvSpPr>
          <p:cNvPr id="7" name="Step 2"/>
          <p:cNvSpPr/>
          <p:nvPr/>
        </p:nvSpPr>
        <p:spPr>
          <a:xfrm>
            <a:off x="2121408" y="1325880"/>
            <a:ext cx="1463040" cy="1874520"/>
          </a:xfrm>
          <a:prstGeom prst="roundRect">
            <a:avLst>
              <a:gd name="adj" fmla="val 7500"/>
            </a:avLst>
          </a:prstGeom>
          <a:solidFill>
            <a:schemeClr val="bg2"/>
          </a:solidFill>
          <a:ln w="12700">
            <a:solidFill>
              <a:schemeClr val="bg2"/>
            </a:solidFill>
            <a:prstDash val="solid"/>
          </a:ln>
        </p:spPr>
      </p:sp>
      <p:sp>
        <p:nvSpPr>
          <p:cNvPr id="8" name="Text 6"/>
          <p:cNvSpPr txBox="1"/>
          <p:nvPr/>
        </p:nvSpPr>
        <p:spPr>
          <a:xfrm>
            <a:off x="2258568" y="1417320"/>
            <a:ext cx="457200" cy="36576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2258568" y="1828800"/>
            <a:ext cx="123444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Emphasis</a:t>
            </a:r>
            <a:endParaRPr lang="en-US" sz="1600" dirty="0"/>
          </a:p>
        </p:txBody>
      </p:sp>
      <p:sp>
        <p:nvSpPr>
          <p:cNvPr id="10" name="Text 8"/>
          <p:cNvSpPr txBox="1"/>
          <p:nvPr/>
        </p:nvSpPr>
        <p:spPr>
          <a:xfrm>
            <a:off x="2258568" y="2194560"/>
            <a:ext cx="1234440" cy="9601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Capitals, ! and boosters strengthen a score</a:t>
            </a:r>
            <a:endParaRPr lang="en-US" sz="1200" dirty="0"/>
          </a:p>
        </p:txBody>
      </p:sp>
      <p:sp>
        <p:nvSpPr>
          <p:cNvPr id="11" name="Step 3"/>
          <p:cNvSpPr/>
          <p:nvPr/>
        </p:nvSpPr>
        <p:spPr>
          <a:xfrm>
            <a:off x="3694176" y="1325880"/>
            <a:ext cx="1463040" cy="1874520"/>
          </a:xfrm>
          <a:prstGeom prst="roundRect">
            <a:avLst>
              <a:gd name="adj" fmla="val 7500"/>
            </a:avLst>
          </a:prstGeom>
          <a:solidFill>
            <a:schemeClr val="bg2"/>
          </a:solidFill>
          <a:ln w="12700">
            <a:solidFill>
              <a:schemeClr val="bg2"/>
            </a:solidFill>
            <a:prstDash val="solid"/>
          </a:ln>
        </p:spPr>
      </p:sp>
      <p:sp>
        <p:nvSpPr>
          <p:cNvPr id="12" name="Text 10"/>
          <p:cNvSpPr txBox="1"/>
          <p:nvPr/>
        </p:nvSpPr>
        <p:spPr>
          <a:xfrm>
            <a:off x="3831336" y="1417320"/>
            <a:ext cx="457200" cy="36576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3</a:t>
            </a:r>
            <a:endParaRPr lang="en-US" sz="2200" dirty="0"/>
          </a:p>
        </p:txBody>
      </p:sp>
      <p:sp>
        <p:nvSpPr>
          <p:cNvPr id="13" name="Text 11"/>
          <p:cNvSpPr txBox="1"/>
          <p:nvPr/>
        </p:nvSpPr>
        <p:spPr>
          <a:xfrm>
            <a:off x="3831336" y="1828800"/>
            <a:ext cx="123444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Negation</a:t>
            </a:r>
            <a:endParaRPr lang="en-US" sz="1600" dirty="0"/>
          </a:p>
        </p:txBody>
      </p:sp>
      <p:sp>
        <p:nvSpPr>
          <p:cNvPr id="14" name="Text 12"/>
          <p:cNvSpPr txBox="1"/>
          <p:nvPr/>
        </p:nvSpPr>
        <p:spPr>
          <a:xfrm>
            <a:off x="3831336" y="2194560"/>
            <a:ext cx="1234440" cy="9601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"not" flips a word within 3 words</a:t>
            </a:r>
            <a:endParaRPr lang="en-US" sz="1200" dirty="0"/>
          </a:p>
        </p:txBody>
      </p:sp>
      <p:sp>
        <p:nvSpPr>
          <p:cNvPr id="15" name="Step 4"/>
          <p:cNvSpPr/>
          <p:nvPr/>
        </p:nvSpPr>
        <p:spPr>
          <a:xfrm>
            <a:off x="5266944" y="1325880"/>
            <a:ext cx="1463040" cy="1874520"/>
          </a:xfrm>
          <a:prstGeom prst="roundRect">
            <a:avLst>
              <a:gd name="adj" fmla="val 7500"/>
            </a:avLst>
          </a:prstGeom>
          <a:solidFill>
            <a:schemeClr val="bg2"/>
          </a:solidFill>
          <a:ln w="12700">
            <a:solidFill>
              <a:schemeClr val="bg2"/>
            </a:solidFill>
            <a:prstDash val="solid"/>
          </a:ln>
        </p:spPr>
      </p:sp>
      <p:sp>
        <p:nvSpPr>
          <p:cNvPr id="16" name="Text 14"/>
          <p:cNvSpPr txBox="1"/>
          <p:nvPr/>
        </p:nvSpPr>
        <p:spPr>
          <a:xfrm>
            <a:off x="5404104" y="1417320"/>
            <a:ext cx="457200" cy="36576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4</a:t>
            </a:r>
            <a:endParaRPr lang="en-US" sz="2200" dirty="0"/>
          </a:p>
        </p:txBody>
      </p:sp>
      <p:sp>
        <p:nvSpPr>
          <p:cNvPr id="17" name="Text 15"/>
          <p:cNvSpPr txBox="1"/>
          <p:nvPr/>
        </p:nvSpPr>
        <p:spPr>
          <a:xfrm>
            <a:off x="5404104" y="1828800"/>
            <a:ext cx="123444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Contrast</a:t>
            </a:r>
            <a:endParaRPr lang="en-US" sz="1600" dirty="0"/>
          </a:p>
        </p:txBody>
      </p:sp>
      <p:sp>
        <p:nvSpPr>
          <p:cNvPr id="18" name="Text 16"/>
          <p:cNvSpPr txBox="1"/>
          <p:nvPr/>
        </p:nvSpPr>
        <p:spPr>
          <a:xfrm>
            <a:off x="5404104" y="2194560"/>
            <a:ext cx="1234440" cy="9601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Text after "but" counts more</a:t>
            </a:r>
            <a:endParaRPr lang="en-US" sz="1200" dirty="0"/>
          </a:p>
        </p:txBody>
      </p:sp>
      <p:sp>
        <p:nvSpPr>
          <p:cNvPr id="19" name="Step 5"/>
          <p:cNvSpPr/>
          <p:nvPr/>
        </p:nvSpPr>
        <p:spPr>
          <a:xfrm>
            <a:off x="6839712" y="1325880"/>
            <a:ext cx="1463040" cy="1874520"/>
          </a:xfrm>
          <a:prstGeom prst="roundRect">
            <a:avLst>
              <a:gd name="adj" fmla="val 7500"/>
            </a:avLst>
          </a:prstGeom>
          <a:solidFill>
            <a:schemeClr val="bg2"/>
          </a:solidFill>
          <a:ln w="12700">
            <a:solidFill>
              <a:schemeClr val="bg2"/>
            </a:solidFill>
            <a:prstDash val="solid"/>
          </a:ln>
        </p:spPr>
      </p:sp>
      <p:sp>
        <p:nvSpPr>
          <p:cNvPr id="20" name="Text 18"/>
          <p:cNvSpPr txBox="1"/>
          <p:nvPr/>
        </p:nvSpPr>
        <p:spPr>
          <a:xfrm>
            <a:off x="6976872" y="1417320"/>
            <a:ext cx="457200" cy="36576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5</a:t>
            </a:r>
            <a:endParaRPr lang="en-US" sz="2200" dirty="0"/>
          </a:p>
        </p:txBody>
      </p:sp>
      <p:sp>
        <p:nvSpPr>
          <p:cNvPr id="21" name="Text 19"/>
          <p:cNvSpPr txBox="1"/>
          <p:nvPr/>
        </p:nvSpPr>
        <p:spPr>
          <a:xfrm>
            <a:off x="6976872" y="1828800"/>
            <a:ext cx="123444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Decide</a:t>
            </a:r>
            <a:endParaRPr lang="en-US" sz="1600" dirty="0"/>
          </a:p>
        </p:txBody>
      </p:sp>
      <p:sp>
        <p:nvSpPr>
          <p:cNvPr id="22" name="Text 20"/>
          <p:cNvSpPr txBox="1"/>
          <p:nvPr/>
        </p:nvSpPr>
        <p:spPr>
          <a:xfrm>
            <a:off x="6976872" y="2194560"/>
            <a:ext cx="1234440" cy="9601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Compound score above +0.05 positive, below -0.50 negative, else neutral</a:t>
            </a:r>
            <a:endParaRPr lang="en-US" sz="1200" dirty="0"/>
          </a:p>
        </p:txBody>
      </p:sp>
      <p:sp>
        <p:nvSpPr>
          <p:cNvPr id="23" name="Text 21"/>
          <p:cNvSpPr txBox="1"/>
          <p:nvPr/>
        </p:nvSpPr>
        <p:spPr>
          <a:xfrm>
            <a:off x="548640" y="3429000"/>
            <a:ext cx="768096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Three versions, each tuned on training data only</a:t>
            </a:r>
            <a:endParaRPr lang="en-US" sz="1800" dirty="0"/>
          </a:p>
        </p:txBody>
      </p:sp>
      <p:sp>
        <p:nvSpPr>
          <p:cNvPr id="24" name="Version A"/>
          <p:cNvSpPr/>
          <p:nvPr/>
        </p:nvSpPr>
        <p:spPr>
          <a:xfrm>
            <a:off x="548640" y="3840480"/>
            <a:ext cx="2468880" cy="822960"/>
          </a:xfrm>
          <a:prstGeom prst="roundRect">
            <a:avLst>
              <a:gd name="adj" fmla="val 11111"/>
            </a:avLst>
          </a:prstGeom>
          <a:solidFill>
            <a:schemeClr val="bg2"/>
          </a:solidFill>
          <a:ln w="12700">
            <a:solidFill>
              <a:schemeClr val="bg2"/>
            </a:solidFill>
            <a:prstDash val="solid"/>
          </a:ln>
        </p:spPr>
      </p:sp>
      <p:sp>
        <p:nvSpPr>
          <p:cNvPr id="25" name="Text 23"/>
          <p:cNvSpPr txBox="1"/>
          <p:nvPr/>
        </p:nvSpPr>
        <p:spPr>
          <a:xfrm>
            <a:off x="685800" y="3913632"/>
            <a:ext cx="2194560" cy="68580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Version A  </a:t>
            </a:r>
            <a:pPr indent="0" marL="0">
              <a:buNone/>
            </a:pPr>
            <a:r>
              <a:rPr lang="en-US" sz="1200" dirty="0">
                <a:solidFill>
                  <a:schemeClr val="tx1"/>
                </a:solidFill>
                <a:latin typeface="Calibri" pitchFamily="34" charset="0"/>
                <a:ea typeface="Calibri" pitchFamily="34" charset="-122"/>
                <a:cs typeface="Calibri" pitchFamily="34" charset="-120"/>
              </a:rPr>
              <a:t>VADER, default thresholds</a:t>
            </a:r>
            <a:endParaRPr lang="en-US" sz="1200" dirty="0"/>
          </a:p>
        </p:txBody>
      </p:sp>
      <p:sp>
        <p:nvSpPr>
          <p:cNvPr id="26" name="Version B"/>
          <p:cNvSpPr/>
          <p:nvPr/>
        </p:nvSpPr>
        <p:spPr>
          <a:xfrm>
            <a:off x="3154680" y="3840480"/>
            <a:ext cx="2468880" cy="822960"/>
          </a:xfrm>
          <a:prstGeom prst="roundRect">
            <a:avLst>
              <a:gd name="adj" fmla="val 11111"/>
            </a:avLst>
          </a:prstGeom>
          <a:solidFill>
            <a:schemeClr val="bg2"/>
          </a:solidFill>
          <a:ln w="12700">
            <a:solidFill>
              <a:schemeClr val="bg2"/>
            </a:solidFill>
            <a:prstDash val="solid"/>
          </a:ln>
        </p:spPr>
      </p:sp>
      <p:sp>
        <p:nvSpPr>
          <p:cNvPr id="27" name="Text 25"/>
          <p:cNvSpPr txBox="1"/>
          <p:nvPr/>
        </p:nvSpPr>
        <p:spPr>
          <a:xfrm>
            <a:off x="3291840" y="3913632"/>
            <a:ext cx="2194560" cy="68580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Version B  </a:t>
            </a:r>
            <a:pPr indent="0" marL="0">
              <a:buNone/>
            </a:pPr>
            <a:r>
              <a:rPr lang="en-US" sz="1200" dirty="0">
                <a:solidFill>
                  <a:schemeClr val="tx1"/>
                </a:solidFill>
                <a:latin typeface="Calibri" pitchFamily="34" charset="0"/>
                <a:ea typeface="Calibri" pitchFamily="34" charset="-122"/>
                <a:cs typeface="Calibri" pitchFamily="34" charset="-120"/>
              </a:rPr>
              <a:t>Tuned thresholds</a:t>
            </a:r>
            <a:endParaRPr lang="en-US" sz="1200" dirty="0"/>
          </a:p>
        </p:txBody>
      </p:sp>
      <p:sp>
        <p:nvSpPr>
          <p:cNvPr id="28" name="Version C"/>
          <p:cNvSpPr/>
          <p:nvPr/>
        </p:nvSpPr>
        <p:spPr>
          <a:xfrm>
            <a:off x="5760720" y="3840480"/>
            <a:ext cx="2468880" cy="822960"/>
          </a:xfrm>
          <a:prstGeom prst="roundRect">
            <a:avLst>
              <a:gd name="adj" fmla="val 11111"/>
            </a:avLst>
          </a:prstGeom>
          <a:solidFill>
            <a:schemeClr val="accent1"/>
          </a:solidFill>
          <a:ln w="12700">
            <a:solidFill>
              <a:schemeClr val="accent1"/>
            </a:solidFill>
            <a:prstDash val="solid"/>
          </a:ln>
        </p:spPr>
      </p:sp>
      <p:sp>
        <p:nvSpPr>
          <p:cNvPr id="29" name="Text 27"/>
          <p:cNvSpPr txBox="1"/>
          <p:nvPr/>
        </p:nvSpPr>
        <p:spPr>
          <a:xfrm>
            <a:off x="5897880" y="3913632"/>
            <a:ext cx="2194560" cy="685800"/>
          </a:xfrm>
          <a:prstGeom prst="rect">
            <a:avLst/>
          </a:prstGeom>
          <a:noFill/>
          <a:ln/>
        </p:spPr>
        <p:txBody>
          <a:bodyPr wrap="square" lIns="0" tIns="0" rIns="0" bIns="0" rtlCol="0" anchor="t"/>
          <a:lstStyle/>
          <a:p>
            <a:pPr indent="0" marL="0">
              <a:buNone/>
            </a:pPr>
            <a:r>
              <a:rPr lang="en-US" sz="1200" b="1" dirty="0">
                <a:solidFill>
                  <a:schemeClr val="bg1"/>
                </a:solidFill>
                <a:latin typeface="Calibri" pitchFamily="34" charset="0"/>
                <a:ea typeface="Calibri" pitchFamily="34" charset="-122"/>
                <a:cs typeface="Calibri" pitchFamily="34" charset="-120"/>
              </a:rPr>
              <a:t>Version C  </a:t>
            </a:r>
            <a:pPr indent="0" marL="0">
              <a:buNone/>
            </a:pPr>
            <a:r>
              <a:rPr lang="en-US" sz="1200" dirty="0">
                <a:solidFill>
                  <a:schemeClr val="bg1"/>
                </a:solidFill>
                <a:latin typeface="Calibri" pitchFamily="34" charset="0"/>
                <a:ea typeface="Calibri" pitchFamily="34" charset="-122"/>
                <a:cs typeface="Calibri" pitchFamily="34" charset="-120"/>
              </a:rPr>
              <a:t>Tuned thresholds + 17 domain words (refund, rma, returned, unable ...)</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Version C scores best on unseen reviews</a:t>
            </a:r>
            <a:endParaRPr lang="en-US" sz="3200" dirty="0"/>
          </a:p>
        </p:txBody>
      </p:sp>
      <p:graphicFrame>
        <p:nvGraphicFramePr>
          <p:cNvPr id="3" name="Macro-F1 chart" descr=""/>
          <p:cNvGraphicFramePr/>
          <p:nvPr/>
        </p:nvGraphicFramePr>
        <p:xfrm>
          <a:off x="457200" y="1188720"/>
          <a:ext cx="5394960" cy="3474720"/>
        </p:xfrm>
        <a:graphic xmlns:a="http://schemas.openxmlformats.org/drawingml/2006/main">
          <a:graphicData uri="http://schemas.openxmlformats.org/drawingml/2006/chart">
            <c:chart xmlns:c="http://schemas.openxmlformats.org/drawingml/2006/chart" r:id="rId1"/>
          </a:graphicData>
        </a:graphic>
      </p:graphicFrame>
      <p:sp>
        <p:nvSpPr>
          <p:cNvPr id="4" name="Takeaways"/>
          <p:cNvSpPr/>
          <p:nvPr/>
        </p:nvSpPr>
        <p:spPr>
          <a:xfrm>
            <a:off x="6126480" y="1280160"/>
            <a:ext cx="2468880" cy="3200400"/>
          </a:xfrm>
          <a:prstGeom prst="roundRect">
            <a:avLst>
              <a:gd name="adj" fmla="val 4444"/>
            </a:avLst>
          </a:prstGeom>
          <a:solidFill>
            <a:schemeClr val="bg2"/>
          </a:solidFill>
          <a:ln w="12700">
            <a:solidFill>
              <a:schemeClr val="bg2"/>
            </a:solidFill>
            <a:prstDash val="solid"/>
          </a:ln>
        </p:spPr>
      </p:sp>
      <p:sp>
        <p:nvSpPr>
          <p:cNvPr id="5" name="Text 2"/>
          <p:cNvSpPr txBox="1"/>
          <p:nvPr/>
        </p:nvSpPr>
        <p:spPr>
          <a:xfrm>
            <a:off x="6355080" y="1463040"/>
            <a:ext cx="201168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+0.057</a:t>
            </a:r>
            <a:endParaRPr lang="en-US" sz="4000" dirty="0"/>
          </a:p>
        </p:txBody>
      </p:sp>
      <p:sp>
        <p:nvSpPr>
          <p:cNvPr id="6" name="Text 3"/>
          <p:cNvSpPr txBox="1"/>
          <p:nvPr/>
        </p:nvSpPr>
        <p:spPr>
          <a:xfrm>
            <a:off x="6355080" y="2148840"/>
            <a:ext cx="201168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macro-F1 gained over default VADER: thresholds +0.020, domain words +0.037</a:t>
            </a:r>
            <a:endParaRPr lang="en-US" sz="1400" dirty="0"/>
          </a:p>
        </p:txBody>
      </p:sp>
      <p:sp>
        <p:nvSpPr>
          <p:cNvPr id="7" name="Text 4"/>
          <p:cNvSpPr txBox="1"/>
          <p:nvPr/>
        </p:nvSpPr>
        <p:spPr>
          <a:xfrm>
            <a:off x="6355080" y="3383280"/>
            <a:ext cx="201168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Accuracy rises from 0.791 to 0.814 with the domain lexicon.</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Accuracy hides the weak classes</a:t>
            </a:r>
            <a:endParaRPr lang="en-US" sz="3200" dirty="0"/>
          </a:p>
        </p:txBody>
      </p:sp>
      <p:sp>
        <p:nvSpPr>
          <p:cNvPr id="3" name="F1 Positive"/>
          <p:cNvSpPr/>
          <p:nvPr/>
        </p:nvSpPr>
        <p:spPr>
          <a:xfrm>
            <a:off x="548640" y="1280160"/>
            <a:ext cx="1691640" cy="2103120"/>
          </a:xfrm>
          <a:prstGeom prst="roundRect">
            <a:avLst>
              <a:gd name="adj" fmla="val 6486"/>
            </a:avLst>
          </a:prstGeom>
          <a:solidFill>
            <a:schemeClr val="bg2"/>
          </a:solidFill>
          <a:ln w="12700">
            <a:solidFill>
              <a:schemeClr val="bg2"/>
            </a:solidFill>
            <a:prstDash val="solid"/>
          </a:ln>
        </p:spPr>
      </p:sp>
      <p:sp>
        <p:nvSpPr>
          <p:cNvPr id="4" name="Text 2"/>
          <p:cNvSpPr txBox="1"/>
          <p:nvPr/>
        </p:nvSpPr>
        <p:spPr>
          <a:xfrm>
            <a:off x="685800" y="1417320"/>
            <a:ext cx="1417320" cy="822960"/>
          </a:xfrm>
          <a:prstGeom prst="rect">
            <a:avLst/>
          </a:prstGeom>
          <a:noFill/>
          <a:ln/>
        </p:spPr>
        <p:txBody>
          <a:bodyPr wrap="square" lIns="0" tIns="0" rIns="0" bIns="0" rtlCol="0" anchor="t"/>
          <a:lstStyle/>
          <a:p>
            <a:pPr indent="0" marL="0">
              <a:buNone/>
            </a:pPr>
            <a:r>
              <a:rPr lang="en-US" sz="4600" b="1" dirty="0">
                <a:solidFill>
                  <a:schemeClr val="accent4"/>
                </a:solidFill>
                <a:latin typeface="Cambria" pitchFamily="34" charset="0"/>
                <a:ea typeface="Cambria" pitchFamily="34" charset="-122"/>
                <a:cs typeface="Cambria" pitchFamily="34" charset="-120"/>
              </a:rPr>
              <a:t>0.90</a:t>
            </a:r>
            <a:endParaRPr lang="en-US" sz="4600" dirty="0"/>
          </a:p>
        </p:txBody>
      </p:sp>
      <p:sp>
        <p:nvSpPr>
          <p:cNvPr id="5" name="Text 3"/>
          <p:cNvSpPr txBox="1"/>
          <p:nvPr/>
        </p:nvSpPr>
        <p:spPr>
          <a:xfrm>
            <a:off x="685800" y="2286000"/>
            <a:ext cx="141732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F1, positive</a:t>
            </a:r>
            <a:endParaRPr lang="en-US" sz="1600" dirty="0"/>
          </a:p>
        </p:txBody>
      </p:sp>
      <p:sp>
        <p:nvSpPr>
          <p:cNvPr id="6" name="Text 4"/>
          <p:cNvSpPr txBox="1"/>
          <p:nvPr/>
        </p:nvSpPr>
        <p:spPr>
          <a:xfrm>
            <a:off x="685800" y="2697480"/>
            <a:ext cx="1417320" cy="36576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1,334 reviews</a:t>
            </a:r>
            <a:endParaRPr lang="en-US" sz="1200" dirty="0"/>
          </a:p>
        </p:txBody>
      </p:sp>
      <p:sp>
        <p:nvSpPr>
          <p:cNvPr id="7" name="F1 Negative"/>
          <p:cNvSpPr/>
          <p:nvPr/>
        </p:nvSpPr>
        <p:spPr>
          <a:xfrm>
            <a:off x="2377440" y="1280160"/>
            <a:ext cx="1691640" cy="2103120"/>
          </a:xfrm>
          <a:prstGeom prst="roundRect">
            <a:avLst>
              <a:gd name="adj" fmla="val 6486"/>
            </a:avLst>
          </a:prstGeom>
          <a:solidFill>
            <a:schemeClr val="bg2"/>
          </a:solidFill>
          <a:ln w="12700">
            <a:solidFill>
              <a:schemeClr val="bg2"/>
            </a:solidFill>
            <a:prstDash val="solid"/>
          </a:ln>
        </p:spPr>
      </p:sp>
      <p:sp>
        <p:nvSpPr>
          <p:cNvPr id="8" name="Text 6"/>
          <p:cNvSpPr txBox="1"/>
          <p:nvPr/>
        </p:nvSpPr>
        <p:spPr>
          <a:xfrm>
            <a:off x="2514600" y="1417320"/>
            <a:ext cx="1417320" cy="822960"/>
          </a:xfrm>
          <a:prstGeom prst="rect">
            <a:avLst/>
          </a:prstGeom>
          <a:noFill/>
          <a:ln/>
        </p:spPr>
        <p:txBody>
          <a:bodyPr wrap="square" lIns="0" tIns="0" rIns="0" bIns="0" rtlCol="0" anchor="t"/>
          <a:lstStyle/>
          <a:p>
            <a:pPr indent="0" marL="0">
              <a:buNone/>
            </a:pPr>
            <a:r>
              <a:rPr lang="en-US" sz="4600" b="1" dirty="0">
                <a:solidFill>
                  <a:schemeClr val="accent2"/>
                </a:solidFill>
                <a:latin typeface="Cambria" pitchFamily="34" charset="0"/>
                <a:ea typeface="Cambria" pitchFamily="34" charset="-122"/>
                <a:cs typeface="Cambria" pitchFamily="34" charset="-120"/>
              </a:rPr>
              <a:t>0.46</a:t>
            </a:r>
            <a:endParaRPr lang="en-US" sz="4600" dirty="0"/>
          </a:p>
        </p:txBody>
      </p:sp>
      <p:sp>
        <p:nvSpPr>
          <p:cNvPr id="9" name="Text 7"/>
          <p:cNvSpPr txBox="1"/>
          <p:nvPr/>
        </p:nvSpPr>
        <p:spPr>
          <a:xfrm>
            <a:off x="2514600" y="2286000"/>
            <a:ext cx="141732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F1, negative</a:t>
            </a:r>
            <a:endParaRPr lang="en-US" sz="1600" dirty="0"/>
          </a:p>
        </p:txBody>
      </p:sp>
      <p:sp>
        <p:nvSpPr>
          <p:cNvPr id="10" name="Text 8"/>
          <p:cNvSpPr txBox="1"/>
          <p:nvPr/>
        </p:nvSpPr>
        <p:spPr>
          <a:xfrm>
            <a:off x="2514600" y="2697480"/>
            <a:ext cx="1417320" cy="36576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97 reviews</a:t>
            </a:r>
            <a:endParaRPr lang="en-US" sz="1200" dirty="0"/>
          </a:p>
        </p:txBody>
      </p:sp>
      <p:sp>
        <p:nvSpPr>
          <p:cNvPr id="11" name="F1 Neutral"/>
          <p:cNvSpPr/>
          <p:nvPr/>
        </p:nvSpPr>
        <p:spPr>
          <a:xfrm>
            <a:off x="4206240" y="1280160"/>
            <a:ext cx="1691640" cy="2103120"/>
          </a:xfrm>
          <a:prstGeom prst="roundRect">
            <a:avLst>
              <a:gd name="adj" fmla="val 6486"/>
            </a:avLst>
          </a:prstGeom>
          <a:solidFill>
            <a:schemeClr val="bg2"/>
          </a:solidFill>
          <a:ln w="12700">
            <a:solidFill>
              <a:schemeClr val="bg2"/>
            </a:solidFill>
            <a:prstDash val="solid"/>
          </a:ln>
        </p:spPr>
      </p:sp>
      <p:sp>
        <p:nvSpPr>
          <p:cNvPr id="12" name="Text 10"/>
          <p:cNvSpPr txBox="1"/>
          <p:nvPr/>
        </p:nvSpPr>
        <p:spPr>
          <a:xfrm>
            <a:off x="4343400" y="1417320"/>
            <a:ext cx="1417320" cy="822960"/>
          </a:xfrm>
          <a:prstGeom prst="rect">
            <a:avLst/>
          </a:prstGeom>
          <a:noFill/>
          <a:ln/>
        </p:spPr>
        <p:txBody>
          <a:bodyPr wrap="square" lIns="0" tIns="0" rIns="0" bIns="0" rtlCol="0" anchor="t"/>
          <a:lstStyle/>
          <a:p>
            <a:pPr indent="0" marL="0">
              <a:buNone/>
            </a:pPr>
            <a:r>
              <a:rPr lang="en-US" sz="4600" b="1" dirty="0">
                <a:solidFill>
                  <a:schemeClr val="accent3"/>
                </a:solidFill>
                <a:latin typeface="Cambria" pitchFamily="34" charset="0"/>
                <a:ea typeface="Cambria" pitchFamily="34" charset="-122"/>
                <a:cs typeface="Cambria" pitchFamily="34" charset="-120"/>
              </a:rPr>
              <a:t>0.10</a:t>
            </a:r>
            <a:endParaRPr lang="en-US" sz="4600" dirty="0"/>
          </a:p>
        </p:txBody>
      </p:sp>
      <p:sp>
        <p:nvSpPr>
          <p:cNvPr id="13" name="Text 11"/>
          <p:cNvSpPr txBox="1"/>
          <p:nvPr/>
        </p:nvSpPr>
        <p:spPr>
          <a:xfrm>
            <a:off x="4343400" y="2286000"/>
            <a:ext cx="141732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F1, neutral</a:t>
            </a:r>
            <a:endParaRPr lang="en-US" sz="1600" dirty="0"/>
          </a:p>
        </p:txBody>
      </p:sp>
      <p:sp>
        <p:nvSpPr>
          <p:cNvPr id="14" name="Text 12"/>
          <p:cNvSpPr txBox="1"/>
          <p:nvPr/>
        </p:nvSpPr>
        <p:spPr>
          <a:xfrm>
            <a:off x="4343400" y="2697480"/>
            <a:ext cx="1417320" cy="36576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43 reviews</a:t>
            </a:r>
            <a:endParaRPr lang="en-US" sz="1200" dirty="0"/>
          </a:p>
        </p:txBody>
      </p:sp>
      <p:sp>
        <p:nvSpPr>
          <p:cNvPr id="15" name="Text 13"/>
          <p:cNvSpPr txBox="1"/>
          <p:nvPr/>
        </p:nvSpPr>
        <p:spPr>
          <a:xfrm>
            <a:off x="6217920" y="1280160"/>
            <a:ext cx="2560320" cy="274320"/>
          </a:xfrm>
          <a:prstGeom prst="rect">
            <a:avLst/>
          </a:prstGeom>
          <a:noFill/>
          <a:ln/>
        </p:spPr>
        <p:txBody>
          <a:bodyPr wrap="square" lIns="0" tIns="0" rIns="0" bIns="0" rtlCol="0" anchor="t"/>
          <a:lstStyle/>
          <a:p>
            <a:pPr indent="0" marL="0">
              <a:buNone/>
            </a:pPr>
            <a:r>
              <a:rPr lang="en-US" sz="1300" b="1" dirty="0">
                <a:solidFill>
                  <a:schemeClr val="tx2"/>
                </a:solidFill>
                <a:latin typeface="Calibri" pitchFamily="34" charset="0"/>
                <a:ea typeface="Calibri" pitchFamily="34" charset="-122"/>
                <a:cs typeface="Calibri" pitchFamily="34" charset="-120"/>
              </a:rPr>
              <a:t>Confusion matrix, Version C</a:t>
            </a:r>
            <a:endParaRPr lang="en-US" sz="1300" dirty="0"/>
          </a:p>
        </p:txBody>
      </p:sp>
      <p:graphicFrame>
        <p:nvGraphicFramePr>
          <p:cNvPr id="7" name="Confusion matrix"/>
          <p:cNvGraphicFramePr>
            <a:graphicFrameLocks noGrp="1"/>
          </p:cNvGraphicFramePr>
          <p:nvPr>
            <p:extLst>
              <p:ext uri="{D42A27DB-BD31-4B8C-83A1-F6EECF244321}">
                <p14:modId xmlns:p14="http://schemas.microsoft.com/office/powerpoint/2010/main" val="1579011935"/>
              </p:ext>
            </p:extLst>
          </p:nvPr>
        </p:nvGraphicFramePr>
        <p:xfrm>
          <a:off x="6217920" y="1645920"/>
          <a:ext cx="2377440" cy="914400"/>
        </p:xfrm>
        <a:graphic>
          <a:graphicData uri="http://schemas.openxmlformats.org/drawingml/2006/table">
            <a:tbl>
              <a:tblPr/>
              <a:tblGrid>
                <a:gridCol w="548640"/>
                <a:gridCol w="594360"/>
                <a:gridCol w="594360"/>
                <a:gridCol w="640080"/>
              </a:tblGrid>
              <a:tr h="365760">
                <a:tc>
                  <a:txBody>
                    <a:bodyPr/>
                    <a:lstStyle/>
                    <a:p>
                      <a:pPr algn="ctr" indent="0" marL="0">
                        <a:buNone/>
                      </a:pPr>
                      <a:endParaRPr lang="en-US" sz="11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Neg</a:t>
                      </a:r>
                      <a:endParaRPr lang="en-US" sz="11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Neu</a:t>
                      </a:r>
                      <a:endParaRPr lang="en-US" sz="11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Pos</a:t>
                      </a:r>
                      <a:endParaRPr lang="en-US" sz="11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tx2"/>
                    </a:solidFill>
                  </a:tcPr>
                </a:tc>
              </a:tr>
              <a:tr h="365760">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Neg</a:t>
                      </a:r>
                      <a:endParaRPr lang="en-US" sz="11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CFE5E5"/>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r>
              <a:tr h="365760">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Neu</a:t>
                      </a:r>
                      <a:endParaRPr lang="en-US" sz="11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CFE5E5"/>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r>
              <a:tr h="365760">
                <a:tc>
                  <a:txBody>
                    <a:bodyPr/>
                    <a:lstStyle/>
                    <a:p>
                      <a:pPr algn="ctr" indent="0" marL="0">
                        <a:buNone/>
                      </a:pPr>
                      <a:r>
                        <a:rPr lang="en-US" sz="1100" b="1" dirty="0">
                          <a:solidFill>
                            <a:schemeClr val="bg1"/>
                          </a:solidFill>
                          <a:latin typeface="Calibri" pitchFamily="34" charset="0"/>
                          <a:ea typeface="Calibri" pitchFamily="34" charset="-122"/>
                          <a:cs typeface="Calibri" pitchFamily="34" charset="-120"/>
                        </a:rPr>
                        <a:t>Pos</a:t>
                      </a:r>
                      <a:endParaRPr lang="en-US" sz="11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155</a:t>
                      </a:r>
                      <a:endParaRPr lang="en-US" sz="12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FFFFFF"/>
                    </a:solidFill>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1148</a:t>
                      </a:r>
                      <a:endParaRPr lang="en-US" sz="1200" dirty="0">
                        <a:latin typeface="Calibri" charset="0"/>
                        <a:ea typeface="Calibri" charset="0"/>
                        <a:cs typeface="Calibri" charset="0"/>
                      </a:endParaRPr>
                    </a:p>
                  </a:txBody>
                  <a:tcPr marL="91440" marR="91440" marT="45720" marB="45720">
                    <a:lnL w="9525" cap="flat" cmpd="sng" algn="ctr">
                      <a:solidFill>
                        <a:srgbClr val="D5DEDD"/>
                      </a:solidFill>
                      <a:prstDash val="solid"/>
                      <a:round/>
                      <a:headEnd type="none" w="med" len="med"/>
                      <a:tailEnd type="none" w="med" len="med"/>
                    </a:lnL>
                    <a:lnR w="9525" cap="flat" cmpd="sng" algn="ctr">
                      <a:solidFill>
                        <a:srgbClr val="D5DEDD"/>
                      </a:solidFill>
                      <a:prstDash val="solid"/>
                      <a:round/>
                      <a:headEnd type="none" w="med" len="med"/>
                      <a:tailEnd type="none" w="med" len="med"/>
                    </a:lnR>
                    <a:lnT w="9525" cap="flat" cmpd="sng" algn="ctr">
                      <a:solidFill>
                        <a:srgbClr val="D5DEDD"/>
                      </a:solidFill>
                      <a:prstDash val="solid"/>
                      <a:round/>
                      <a:headEnd type="none" w="med" len="med"/>
                      <a:tailEnd type="none" w="med" len="med"/>
                    </a:lnT>
                    <a:lnB w="9525" cap="flat" cmpd="sng" algn="ctr">
                      <a:solidFill>
                        <a:srgbClr val="D5DEDD"/>
                      </a:solidFill>
                      <a:prstDash val="solid"/>
                      <a:round/>
                      <a:headEnd type="none" w="med" len="med"/>
                      <a:tailEnd type="none" w="med" len="med"/>
                    </a:lnB>
                    <a:solidFill>
                      <a:srgbClr val="CFE5E5"/>
                    </a:solidFill>
                  </a:tcPr>
                </a:tc>
              </a:tr>
            </a:tbl>
          </a:graphicData>
        </a:graphic>
      </p:graphicFrame>
      <p:sp>
        <p:nvSpPr>
          <p:cNvPr id="17" name="Text 14"/>
          <p:cNvSpPr txBox="1"/>
          <p:nvPr/>
        </p:nvSpPr>
        <p:spPr>
          <a:xfrm>
            <a:off x="548640" y="3657600"/>
            <a:ext cx="8046720" cy="9144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Always answering "positive" gives 0.905 accuracy, higher than every tool, yet finds no negative or neutral review. Neutral precision is only 0.06: most reviews it calls neutral are positive.</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Where it goes wrong: 274 of 1,474 reviews</a:t>
            </a:r>
            <a:endParaRPr lang="en-US" sz="3200" dirty="0"/>
          </a:p>
        </p:txBody>
      </p:sp>
      <p:sp>
        <p:nvSpPr>
          <p:cNvPr id="3" name="Error 1"/>
          <p:cNvSpPr/>
          <p:nvPr/>
        </p:nvSpPr>
        <p:spPr>
          <a:xfrm>
            <a:off x="548640" y="1234440"/>
            <a:ext cx="3749040" cy="1143000"/>
          </a:xfrm>
          <a:prstGeom prst="roundRect">
            <a:avLst>
              <a:gd name="adj" fmla="val 9600"/>
            </a:avLst>
          </a:prstGeom>
          <a:solidFill>
            <a:schemeClr val="bg2"/>
          </a:solidFill>
          <a:ln w="12700">
            <a:solidFill>
              <a:schemeClr val="bg2"/>
            </a:solidFill>
            <a:prstDash val="solid"/>
          </a:ln>
        </p:spPr>
      </p:sp>
      <p:sp>
        <p:nvSpPr>
          <p:cNvPr id="4" name="Text 2"/>
          <p:cNvSpPr txBox="1"/>
          <p:nvPr/>
        </p:nvSpPr>
        <p:spPr>
          <a:xfrm>
            <a:off x="731520" y="1344168"/>
            <a:ext cx="3383280" cy="320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Complaints without sentiment words</a:t>
            </a:r>
            <a:endParaRPr lang="en-US" sz="1500" dirty="0"/>
          </a:p>
        </p:txBody>
      </p:sp>
      <p:sp>
        <p:nvSpPr>
          <p:cNvPr id="5" name="Text 3"/>
          <p:cNvSpPr txBox="1"/>
          <p:nvPr/>
        </p:nvSpPr>
        <p:spPr>
          <a:xfrm>
            <a:off x="731520" y="1691640"/>
            <a:ext cx="338328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"stopped seeing the card" has no dictionary word, so polite words win.</a:t>
            </a:r>
            <a:endParaRPr lang="en-US" sz="1300" dirty="0"/>
          </a:p>
        </p:txBody>
      </p:sp>
      <p:sp>
        <p:nvSpPr>
          <p:cNvPr id="6" name="Error 2"/>
          <p:cNvSpPr/>
          <p:nvPr/>
        </p:nvSpPr>
        <p:spPr>
          <a:xfrm>
            <a:off x="4480560" y="1234440"/>
            <a:ext cx="3749040" cy="1143000"/>
          </a:xfrm>
          <a:prstGeom prst="roundRect">
            <a:avLst>
              <a:gd name="adj" fmla="val 9600"/>
            </a:avLst>
          </a:prstGeom>
          <a:solidFill>
            <a:schemeClr val="bg2"/>
          </a:solidFill>
          <a:ln w="12700">
            <a:solidFill>
              <a:schemeClr val="bg2"/>
            </a:solidFill>
            <a:prstDash val="solid"/>
          </a:ln>
        </p:spPr>
      </p:sp>
      <p:sp>
        <p:nvSpPr>
          <p:cNvPr id="7" name="Text 5"/>
          <p:cNvSpPr txBox="1"/>
          <p:nvPr/>
        </p:nvSpPr>
        <p:spPr>
          <a:xfrm>
            <a:off x="4663440" y="1344168"/>
            <a:ext cx="3383280" cy="320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Problem solved, rating still high</a:t>
            </a:r>
            <a:endParaRPr lang="en-US" sz="1500" dirty="0"/>
          </a:p>
        </p:txBody>
      </p:sp>
      <p:sp>
        <p:nvSpPr>
          <p:cNvPr id="8" name="Text 6"/>
          <p:cNvSpPr txBox="1"/>
          <p:nvPr/>
        </p:nvSpPr>
        <p:spPr>
          <a:xfrm>
            <a:off x="4663440" y="1691640"/>
            <a:ext cx="338328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4-5 star reviews describing a fault that was fixed read as negative.</a:t>
            </a:r>
            <a:endParaRPr lang="en-US" sz="1300" dirty="0"/>
          </a:p>
        </p:txBody>
      </p:sp>
      <p:sp>
        <p:nvSpPr>
          <p:cNvPr id="9" name="Error 3"/>
          <p:cNvSpPr/>
          <p:nvPr/>
        </p:nvSpPr>
        <p:spPr>
          <a:xfrm>
            <a:off x="548640" y="2514600"/>
            <a:ext cx="3749040" cy="1143000"/>
          </a:xfrm>
          <a:prstGeom prst="roundRect">
            <a:avLst>
              <a:gd name="adj" fmla="val 9600"/>
            </a:avLst>
          </a:prstGeom>
          <a:solidFill>
            <a:schemeClr val="bg2"/>
          </a:solidFill>
          <a:ln w="12700">
            <a:solidFill>
              <a:schemeClr val="bg2"/>
            </a:solidFill>
            <a:prstDash val="solid"/>
          </a:ln>
        </p:spPr>
      </p:sp>
      <p:sp>
        <p:nvSpPr>
          <p:cNvPr id="10" name="Text 8"/>
          <p:cNvSpPr txBox="1"/>
          <p:nvPr/>
        </p:nvSpPr>
        <p:spPr>
          <a:xfrm>
            <a:off x="731520" y="2624328"/>
            <a:ext cx="3383280" cy="320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Mixed 3-star reviews</a:t>
            </a:r>
            <a:endParaRPr lang="en-US" sz="1500" dirty="0"/>
          </a:p>
        </p:txBody>
      </p:sp>
      <p:sp>
        <p:nvSpPr>
          <p:cNvPr id="11" name="Text 9"/>
          <p:cNvSpPr txBox="1"/>
          <p:nvPr/>
        </p:nvSpPr>
        <p:spPr>
          <a:xfrm>
            <a:off x="731520" y="2971800"/>
            <a:ext cx="338328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"Great card but issues with my GoPro" cannot be one score.</a:t>
            </a:r>
            <a:endParaRPr lang="en-US" sz="1300" dirty="0"/>
          </a:p>
        </p:txBody>
      </p:sp>
      <p:sp>
        <p:nvSpPr>
          <p:cNvPr id="12" name="Error 4"/>
          <p:cNvSpPr/>
          <p:nvPr/>
        </p:nvSpPr>
        <p:spPr>
          <a:xfrm>
            <a:off x="4480560" y="2514600"/>
            <a:ext cx="3749040" cy="1143000"/>
          </a:xfrm>
          <a:prstGeom prst="roundRect">
            <a:avLst>
              <a:gd name="adj" fmla="val 9600"/>
            </a:avLst>
          </a:prstGeom>
          <a:solidFill>
            <a:schemeClr val="bg2"/>
          </a:solidFill>
          <a:ln w="12700">
            <a:solidFill>
              <a:schemeClr val="bg2"/>
            </a:solidFill>
            <a:prstDash val="solid"/>
          </a:ln>
        </p:spPr>
      </p:sp>
      <p:sp>
        <p:nvSpPr>
          <p:cNvPr id="13" name="Text 11"/>
          <p:cNvSpPr txBox="1"/>
          <p:nvPr/>
        </p:nvSpPr>
        <p:spPr>
          <a:xfrm>
            <a:off x="4663440" y="2624328"/>
            <a:ext cx="3383280" cy="320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Noisy ground truth</a:t>
            </a:r>
            <a:endParaRPr lang="en-US" sz="1500" dirty="0"/>
          </a:p>
        </p:txBody>
      </p:sp>
      <p:sp>
        <p:nvSpPr>
          <p:cNvPr id="14" name="Text 12"/>
          <p:cNvSpPr txBox="1"/>
          <p:nvPr/>
        </p:nvSpPr>
        <p:spPr>
          <a:xfrm>
            <a:off x="4663440" y="2971800"/>
            <a:ext cx="338328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Star ratings do not always match the wording.</a:t>
            </a:r>
            <a:endParaRPr lang="en-US" sz="1300" dirty="0"/>
          </a:p>
        </p:txBody>
      </p:sp>
      <p:sp>
        <p:nvSpPr>
          <p:cNvPr id="15" name="Text 13"/>
          <p:cNvSpPr txBox="1"/>
          <p:nvPr/>
        </p:nvSpPr>
        <p:spPr>
          <a:xfrm>
            <a:off x="548640" y="3840480"/>
            <a:ext cx="914400" cy="5486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98%</a:t>
            </a:r>
            <a:endParaRPr lang="en-US" sz="2800" dirty="0"/>
          </a:p>
        </p:txBody>
      </p:sp>
      <p:sp>
        <p:nvSpPr>
          <p:cNvPr id="16" name="Text 14"/>
          <p:cNvSpPr txBox="1"/>
          <p:nvPr/>
        </p:nvSpPr>
        <p:spPr>
          <a:xfrm>
            <a:off x="1508760" y="3886200"/>
            <a:ext cx="155448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error when no dictionary word is found</a:t>
            </a:r>
            <a:endParaRPr lang="en-US" sz="1200" dirty="0"/>
          </a:p>
        </p:txBody>
      </p:sp>
      <p:sp>
        <p:nvSpPr>
          <p:cNvPr id="17" name="Text 15"/>
          <p:cNvSpPr txBox="1"/>
          <p:nvPr/>
        </p:nvSpPr>
        <p:spPr>
          <a:xfrm>
            <a:off x="3200400" y="3840480"/>
            <a:ext cx="914400" cy="5486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27%</a:t>
            </a:r>
            <a:endParaRPr lang="en-US" sz="2800" dirty="0"/>
          </a:p>
        </p:txBody>
      </p:sp>
      <p:sp>
        <p:nvSpPr>
          <p:cNvPr id="18" name="Text 16"/>
          <p:cNvSpPr txBox="1"/>
          <p:nvPr/>
        </p:nvSpPr>
        <p:spPr>
          <a:xfrm>
            <a:off x="4160520" y="3886200"/>
            <a:ext cx="155448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error when the review has "but" (15% without)</a:t>
            </a:r>
            <a:endParaRPr lang="en-US" sz="1200" dirty="0"/>
          </a:p>
        </p:txBody>
      </p:sp>
      <p:sp>
        <p:nvSpPr>
          <p:cNvPr id="19" name="Text 17"/>
          <p:cNvSpPr txBox="1"/>
          <p:nvPr/>
        </p:nvSpPr>
        <p:spPr>
          <a:xfrm>
            <a:off x="5852160" y="3840480"/>
            <a:ext cx="914400" cy="5486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23%</a:t>
            </a:r>
            <a:endParaRPr lang="en-US" sz="2800" dirty="0"/>
          </a:p>
        </p:txBody>
      </p:sp>
      <p:sp>
        <p:nvSpPr>
          <p:cNvPr id="20" name="Text 18"/>
          <p:cNvSpPr txBox="1"/>
          <p:nvPr/>
        </p:nvSpPr>
        <p:spPr>
          <a:xfrm>
            <a:off x="6812280" y="3886200"/>
            <a:ext cx="155448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error when it has a negation (13% without)</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Limitations and next steps</a:t>
            </a:r>
            <a:endParaRPr lang="en-US" sz="3200" dirty="0"/>
          </a:p>
        </p:txBody>
      </p:sp>
      <p:sp>
        <p:nvSpPr>
          <p:cNvPr id="3" name="Limitations"/>
          <p:cNvSpPr/>
          <p:nvPr/>
        </p:nvSpPr>
        <p:spPr>
          <a:xfrm>
            <a:off x="548640" y="1280160"/>
            <a:ext cx="3749040" cy="3291840"/>
          </a:xfrm>
          <a:prstGeom prst="roundRect">
            <a:avLst>
              <a:gd name="adj" fmla="val 3333"/>
            </a:avLst>
          </a:prstGeom>
          <a:solidFill>
            <a:schemeClr val="bg2"/>
          </a:solidFill>
          <a:ln w="12700">
            <a:solidFill>
              <a:schemeClr val="bg2"/>
            </a:solidFill>
            <a:prstDash val="solid"/>
          </a:ln>
        </p:spPr>
      </p:sp>
      <p:sp>
        <p:nvSpPr>
          <p:cNvPr id="4" name="Future work"/>
          <p:cNvSpPr/>
          <p:nvPr/>
        </p:nvSpPr>
        <p:spPr>
          <a:xfrm>
            <a:off x="4480560" y="1280160"/>
            <a:ext cx="4114800" cy="3291840"/>
          </a:xfrm>
          <a:prstGeom prst="roundRect">
            <a:avLst>
              <a:gd name="adj" fmla="val 3333"/>
            </a:avLst>
          </a:prstGeom>
          <a:solidFill>
            <a:schemeClr val="bg2"/>
          </a:solidFill>
          <a:ln w="12700">
            <a:solidFill>
              <a:schemeClr val="bg2"/>
            </a:solidFill>
            <a:prstDash val="solid"/>
          </a:ln>
        </p:spPr>
      </p:sp>
      <p:sp>
        <p:nvSpPr>
          <p:cNvPr id="5" name="Text 3"/>
          <p:cNvSpPr txBox="1"/>
          <p:nvPr/>
        </p:nvSpPr>
        <p:spPr>
          <a:xfrm>
            <a:off x="777240" y="1417320"/>
            <a:ext cx="3291840" cy="36576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Limitations</a:t>
            </a:r>
            <a:endParaRPr lang="en-US" sz="2000" dirty="0"/>
          </a:p>
        </p:txBody>
      </p:sp>
      <p:sp>
        <p:nvSpPr>
          <p:cNvPr id="6" name="Text 4"/>
          <p:cNvSpPr txBox="1"/>
          <p:nvPr/>
        </p:nvSpPr>
        <p:spPr>
          <a:xfrm>
            <a:off x="777240" y="1874520"/>
            <a:ext cx="329184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Weak neutral class (F1 0.10)</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Sarcasm: "Oh great, another card that died" reads positive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One score per review, so mixed opinions are lost</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Fixed dictionary and domain words from one product type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English only</a:t>
            </a:r>
            <a:endParaRPr lang="en-US" sz="1400" dirty="0"/>
          </a:p>
        </p:txBody>
      </p:sp>
      <p:sp>
        <p:nvSpPr>
          <p:cNvPr id="7" name="Text 5"/>
          <p:cNvSpPr txBox="1"/>
          <p:nvPr/>
        </p:nvSpPr>
        <p:spPr>
          <a:xfrm>
            <a:off x="4709160" y="1417320"/>
            <a:ext cx="365760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Future work</a:t>
            </a:r>
            <a:endParaRPr lang="en-US" sz="2000" dirty="0"/>
          </a:p>
        </p:txBody>
      </p:sp>
      <p:sp>
        <p:nvSpPr>
          <p:cNvPr id="8" name="Text 6"/>
          <p:cNvSpPr txBox="1"/>
          <p:nvPr/>
        </p:nvSpPr>
        <p:spPr>
          <a:xfrm>
            <a:off x="4709160" y="1874520"/>
            <a:ext cx="365760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Machine learning: TF-IDF with logistic regression, then a transformer</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Aspect-based scoring for price, battery, delivery</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Better negation and sarcasm rules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Larger, human-labelled lexicon and test set</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Web app or API for whole files of reviews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82296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Explainable, honest, and a clear baseline</a:t>
            </a:r>
            <a:endParaRPr lang="en-US" sz="3600" dirty="0"/>
          </a:p>
        </p:txBody>
      </p:sp>
      <p:sp>
        <p:nvSpPr>
          <p:cNvPr id="3" name="Text 1"/>
          <p:cNvSpPr txBox="1"/>
          <p:nvPr/>
        </p:nvSpPr>
        <p:spPr>
          <a:xfrm>
            <a:off x="548640" y="2103120"/>
            <a:ext cx="7863840" cy="18288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bg1"/>
                </a:solidFill>
                <a:latin typeface="Calibri" pitchFamily="34" charset="0"/>
                <a:ea typeface="Calibri" pitchFamily="34" charset="-122"/>
                <a:cs typeface="Calibri" pitchFamily="34" charset="-120"/>
              </a:rPr>
              <a:t>A rule-based analyser that shows the words behind every decision</a:t>
            </a:r>
            <a:endParaRPr lang="en-US" sz="1800" dirty="0"/>
          </a:p>
          <a:p>
            <a:pPr marL="342900" indent="-342900">
              <a:spcAft>
                <a:spcPts val="1000"/>
              </a:spcAft>
              <a:buSzPct val="100000"/>
              <a:buChar char="•"/>
            </a:pPr>
            <a:r>
              <a:rPr lang="en-US" sz="1800" dirty="0">
                <a:solidFill>
                  <a:schemeClr val="bg1"/>
                </a:solidFill>
                <a:latin typeface="Calibri" pitchFamily="34" charset="0"/>
                <a:ea typeface="Calibri" pitchFamily="34" charset="-122"/>
                <a:cs typeface="Calibri" pitchFamily="34" charset="-120"/>
              </a:rPr>
              <a:t>Macro-F1 0.485 on unseen reviews, up from 0.428 for default VADER</a:t>
            </a:r>
            <a:endParaRPr lang="en-US" sz="1800" dirty="0"/>
          </a:p>
          <a:p>
            <a:pPr marL="342900" indent="-342900">
              <a:spcAft>
                <a:spcPts val="1000"/>
              </a:spcAft>
              <a:buSzPct val="100000"/>
              <a:buChar char="•"/>
            </a:pPr>
            <a:r>
              <a:rPr lang="en-US" sz="1800" dirty="0">
                <a:solidFill>
                  <a:schemeClr val="bg1"/>
                </a:solidFill>
                <a:latin typeface="Calibri" pitchFamily="34" charset="0"/>
                <a:ea typeface="Calibri" pitchFamily="34" charset="-122"/>
                <a:cs typeface="Calibri" pitchFamily="34" charset="-120"/>
              </a:rPr>
              <a:t>Honest about the limits: neutral class, sarcasm and mixed opinions</a:t>
            </a:r>
            <a:endParaRPr lang="en-US" sz="1800" dirty="0"/>
          </a:p>
          <a:p>
            <a:pPr marL="342900" indent="-342900">
              <a:spcAft>
                <a:spcPts val="1000"/>
              </a:spcAft>
              <a:buSzPct val="100000"/>
              <a:buChar char="•"/>
            </a:pPr>
            <a:r>
              <a:rPr lang="en-US" sz="1800" dirty="0">
                <a:solidFill>
                  <a:schemeClr val="bg1"/>
                </a:solidFill>
                <a:latin typeface="Calibri" pitchFamily="34" charset="0"/>
                <a:ea typeface="Calibri" pitchFamily="34" charset="-122"/>
                <a:cs typeface="Calibri" pitchFamily="34" charset="-120"/>
              </a:rPr>
              <a:t>Notebook, dataset, report and setup instructions delivered</a:t>
            </a:r>
            <a:endParaRPr lang="en-US" sz="1800" dirty="0"/>
          </a:p>
        </p:txBody>
      </p:sp>
      <p:sp>
        <p:nvSpPr>
          <p:cNvPr id="4" name="Text 2"/>
          <p:cNvSpPr txBox="1"/>
          <p:nvPr/>
        </p:nvSpPr>
        <p:spPr>
          <a:xfrm>
            <a:off x="548640" y="4206240"/>
            <a:ext cx="457200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Thank you</a:t>
            </a:r>
            <a:endParaRPr lang="en-US" sz="2400" dirty="0"/>
          </a:p>
        </p:txBody>
      </p:sp>
    </p:spTree>
  </p:cSld>
  <p:clrMapOvr>
    <a:masterClrMapping/>
  </p:clrMapOvr>
</p:sld>
</file>

<file path=ppt/theme/theme1.xml><?xml version="1.0" encoding="utf-8"?>
<a:theme xmlns:a="http://schemas.openxmlformats.org/drawingml/2006/main" name="Review Sentiment">
  <a:themeElements>
    <a:clrScheme name="Review Sentiment">
      <a:dk1>
        <a:srgbClr val="16262E"/>
      </a:dk1>
      <a:lt1>
        <a:srgbClr val="FFFFFF"/>
      </a:lt1>
      <a:dk2>
        <a:srgbClr val="0E4A4A"/>
      </a:dk2>
      <a:lt2>
        <a:srgbClr val="EEF3F2"/>
      </a:lt2>
      <a:accent1>
        <a:srgbClr val="0F6B6B"/>
      </a:accent1>
      <a:accent2>
        <a:srgbClr val="F2A33A"/>
      </a:accent2>
      <a:accent3>
        <a:srgbClr val="C8553D"/>
      </a:accent3>
      <a:accent4>
        <a:srgbClr val="5B8C5A"/>
      </a:accent4>
      <a:accent5>
        <a:srgbClr val="7A8B93"/>
      </a:accent5>
      <a:accent6>
        <a:srgbClr val="2E7D9A"/>
      </a:accent6>
      <a:hlink>
        <a:srgbClr val="0F6B6B"/>
      </a:hlink>
      <a:folHlink>
        <a:srgbClr val="7A8B93"/>
      </a:folHlink>
    </a:clrScheme>
    <a:fontScheme name="Review Sentim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Rule-Based Sentiment Analyser</dc:title>
  <dc:subject>PptxGenJS Presentation</dc:subject>
  <dc:creator>Mpumlwana, Mokoena, Ngadana</dc:creator>
  <cp:lastModifiedBy>Mpumlwana, Mokoena, Ngadana</cp:lastModifiedBy>
  <cp:revision>1</cp:revision>
  <dcterms:created xsi:type="dcterms:W3CDTF">2026-10-04T19:06:27Z</dcterms:created>
  <dcterms:modified xsi:type="dcterms:W3CDTF">2026-10-04T19:06:27Z</dcterms:modified>
</cp:coreProperties>
</file>